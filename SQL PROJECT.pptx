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77" r:id="rId2"/>
    <p:sldId id="257" r:id="rId3"/>
    <p:sldId id="259" r:id="rId4"/>
    <p:sldId id="261" r:id="rId5"/>
    <p:sldId id="262" r:id="rId6"/>
    <p:sldId id="263" r:id="rId7"/>
    <p:sldId id="265" r:id="rId8"/>
    <p:sldId id="266" r:id="rId9"/>
    <p:sldId id="267" r:id="rId10"/>
    <p:sldId id="268" r:id="rId11"/>
    <p:sldId id="270" r:id="rId12"/>
    <p:sldId id="269" r:id="rId13"/>
    <p:sldId id="271" r:id="rId14"/>
    <p:sldId id="272" r:id="rId15"/>
    <p:sldId id="273" r:id="rId16"/>
    <p:sldId id="274" r:id="rId17"/>
    <p:sldId id="278" r:id="rId18"/>
    <p:sldId id="279"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01C3BE-C2BE-45B7-B328-9CDE9333FA66}" v="24" dt="2025-09-12T18:27:52.8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p:scale>
          <a:sx n="66" d="100"/>
          <a:sy n="66" d="100"/>
        </p:scale>
        <p:origin x="1282"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E965BEC-D7BE-4615-B06B-61D0E3F3D74B}" type="datetimeFigureOut">
              <a:rPr lang="en-IN" smtClean="0"/>
              <a:t>03-12-2025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0EFBB5F-F063-401D-9BF8-8A65AB391213}" type="slidenum">
              <a:rPr lang="en-IN" smtClean="0"/>
              <a:t>‹#›</a:t>
            </a:fld>
            <a:endParaRPr lang="en-IN"/>
          </a:p>
        </p:txBody>
      </p:sp>
    </p:spTree>
    <p:extLst>
      <p:ext uri="{BB962C8B-B14F-4D97-AF65-F5344CB8AC3E}">
        <p14:creationId xmlns:p14="http://schemas.microsoft.com/office/powerpoint/2010/main" val="1669291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965BEC-D7BE-4615-B06B-61D0E3F3D74B}" type="datetimeFigureOut">
              <a:rPr lang="en-IN" smtClean="0"/>
              <a:t>03-12-2025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0EFBB5F-F063-401D-9BF8-8A65AB391213}" type="slidenum">
              <a:rPr lang="en-IN" smtClean="0"/>
              <a:t>‹#›</a:t>
            </a:fld>
            <a:endParaRPr lang="en-IN"/>
          </a:p>
        </p:txBody>
      </p:sp>
    </p:spTree>
    <p:extLst>
      <p:ext uri="{BB962C8B-B14F-4D97-AF65-F5344CB8AC3E}">
        <p14:creationId xmlns:p14="http://schemas.microsoft.com/office/powerpoint/2010/main" val="873471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965BEC-D7BE-4615-B06B-61D0E3F3D74B}" type="datetimeFigureOut">
              <a:rPr lang="en-IN" smtClean="0"/>
              <a:t>03-12-2025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0EFBB5F-F063-401D-9BF8-8A65AB391213}" type="slidenum">
              <a:rPr lang="en-IN" smtClean="0"/>
              <a:t>‹#›</a:t>
            </a:fld>
            <a:endParaRPr lang="en-IN"/>
          </a:p>
        </p:txBody>
      </p:sp>
    </p:spTree>
    <p:extLst>
      <p:ext uri="{BB962C8B-B14F-4D97-AF65-F5344CB8AC3E}">
        <p14:creationId xmlns:p14="http://schemas.microsoft.com/office/powerpoint/2010/main" val="2883117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E965BEC-D7BE-4615-B06B-61D0E3F3D74B}" type="datetimeFigureOut">
              <a:rPr lang="en-IN" smtClean="0"/>
              <a:t>03-12-2025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0EFBB5F-F063-401D-9BF8-8A65AB391213}" type="slidenum">
              <a:rPr lang="en-IN" smtClean="0"/>
              <a:t>‹#›</a:t>
            </a:fld>
            <a:endParaRPr lang="en-IN"/>
          </a:p>
        </p:txBody>
      </p:sp>
    </p:spTree>
    <p:extLst>
      <p:ext uri="{BB962C8B-B14F-4D97-AF65-F5344CB8AC3E}">
        <p14:creationId xmlns:p14="http://schemas.microsoft.com/office/powerpoint/2010/main" val="4115078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965BEC-D7BE-4615-B06B-61D0E3F3D74B}" type="datetimeFigureOut">
              <a:rPr lang="en-IN" smtClean="0"/>
              <a:t>03-12-2025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0EFBB5F-F063-401D-9BF8-8A65AB391213}" type="slidenum">
              <a:rPr lang="en-IN" smtClean="0"/>
              <a:t>‹#›</a:t>
            </a:fld>
            <a:endParaRPr lang="en-IN"/>
          </a:p>
        </p:txBody>
      </p:sp>
    </p:spTree>
    <p:extLst>
      <p:ext uri="{BB962C8B-B14F-4D97-AF65-F5344CB8AC3E}">
        <p14:creationId xmlns:p14="http://schemas.microsoft.com/office/powerpoint/2010/main" val="1360573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65BEC-D7BE-4615-B06B-61D0E3F3D74B}" type="datetimeFigureOut">
              <a:rPr lang="en-IN" smtClean="0"/>
              <a:t>03-12-2025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0EFBB5F-F063-401D-9BF8-8A65AB391213}" type="slidenum">
              <a:rPr lang="en-IN" smtClean="0"/>
              <a:t>‹#›</a:t>
            </a:fld>
            <a:endParaRPr lang="en-IN"/>
          </a:p>
        </p:txBody>
      </p:sp>
    </p:spTree>
    <p:extLst>
      <p:ext uri="{BB962C8B-B14F-4D97-AF65-F5344CB8AC3E}">
        <p14:creationId xmlns:p14="http://schemas.microsoft.com/office/powerpoint/2010/main" val="1740424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965BEC-D7BE-4615-B06B-61D0E3F3D74B}" type="datetimeFigureOut">
              <a:rPr lang="en-IN" smtClean="0"/>
              <a:t>03-12-2025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0EFBB5F-F063-401D-9BF8-8A65AB391213}" type="slidenum">
              <a:rPr lang="en-IN" smtClean="0"/>
              <a:t>‹#›</a:t>
            </a:fld>
            <a:endParaRPr lang="en-IN"/>
          </a:p>
        </p:txBody>
      </p:sp>
    </p:spTree>
    <p:extLst>
      <p:ext uri="{BB962C8B-B14F-4D97-AF65-F5344CB8AC3E}">
        <p14:creationId xmlns:p14="http://schemas.microsoft.com/office/powerpoint/2010/main" val="253073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965BEC-D7BE-4615-B06B-61D0E3F3D74B}" type="datetimeFigureOut">
              <a:rPr lang="en-IN" smtClean="0"/>
              <a:t>03-12-2025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0EFBB5F-F063-401D-9BF8-8A65AB391213}" type="slidenum">
              <a:rPr lang="en-IN" smtClean="0"/>
              <a:t>‹#›</a:t>
            </a:fld>
            <a:endParaRPr lang="en-IN"/>
          </a:p>
        </p:txBody>
      </p:sp>
    </p:spTree>
    <p:extLst>
      <p:ext uri="{BB962C8B-B14F-4D97-AF65-F5344CB8AC3E}">
        <p14:creationId xmlns:p14="http://schemas.microsoft.com/office/powerpoint/2010/main" val="3594501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965BEC-D7BE-4615-B06B-61D0E3F3D74B}" type="datetimeFigureOut">
              <a:rPr lang="en-IN" smtClean="0"/>
              <a:t>03-12-2025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0EFBB5F-F063-401D-9BF8-8A65AB391213}" type="slidenum">
              <a:rPr lang="en-IN" smtClean="0"/>
              <a:t>‹#›</a:t>
            </a:fld>
            <a:endParaRPr lang="en-IN"/>
          </a:p>
        </p:txBody>
      </p:sp>
    </p:spTree>
    <p:extLst>
      <p:ext uri="{BB962C8B-B14F-4D97-AF65-F5344CB8AC3E}">
        <p14:creationId xmlns:p14="http://schemas.microsoft.com/office/powerpoint/2010/main" val="3300113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965BEC-D7BE-4615-B06B-61D0E3F3D74B}" type="datetimeFigureOut">
              <a:rPr lang="en-IN" smtClean="0"/>
              <a:t>03-12-2025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0EFBB5F-F063-401D-9BF8-8A65AB391213}" type="slidenum">
              <a:rPr lang="en-IN" smtClean="0"/>
              <a:t>‹#›</a:t>
            </a:fld>
            <a:endParaRPr lang="en-IN"/>
          </a:p>
        </p:txBody>
      </p:sp>
    </p:spTree>
    <p:extLst>
      <p:ext uri="{BB962C8B-B14F-4D97-AF65-F5344CB8AC3E}">
        <p14:creationId xmlns:p14="http://schemas.microsoft.com/office/powerpoint/2010/main" val="1017354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965BEC-D7BE-4615-B06B-61D0E3F3D74B}" type="datetimeFigureOut">
              <a:rPr lang="en-IN" smtClean="0"/>
              <a:t>03-12-2025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0EFBB5F-F063-401D-9BF8-8A65AB391213}"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777587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E965BEC-D7BE-4615-B06B-61D0E3F3D74B}" type="datetimeFigureOut">
              <a:rPr lang="en-IN" smtClean="0"/>
              <a:t>03-12-2025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0EFBB5F-F063-401D-9BF8-8A65AB391213}" type="slidenum">
              <a:rPr lang="en-IN" smtClean="0"/>
              <a:t>‹#›</a:t>
            </a:fld>
            <a:endParaRPr lang="en-IN"/>
          </a:p>
        </p:txBody>
      </p:sp>
    </p:spTree>
    <p:extLst>
      <p:ext uri="{BB962C8B-B14F-4D97-AF65-F5344CB8AC3E}">
        <p14:creationId xmlns:p14="http://schemas.microsoft.com/office/powerpoint/2010/main" val="5493104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E965BEC-D7BE-4615-B06B-61D0E3F3D74B}" type="datetimeFigureOut">
              <a:rPr lang="en-IN" smtClean="0"/>
              <a:t>03-12-2025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0EFBB5F-F063-401D-9BF8-8A65AB391213}"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065618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E965BEC-D7BE-4615-B06B-61D0E3F3D74B}" type="datetimeFigureOut">
              <a:rPr lang="en-IN" smtClean="0"/>
              <a:t>03-12-2025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0EFBB5F-F063-401D-9BF8-8A65AB391213}" type="slidenum">
              <a:rPr lang="en-IN" smtClean="0"/>
              <a:t>‹#›</a:t>
            </a:fld>
            <a:endParaRPr lang="en-IN"/>
          </a:p>
        </p:txBody>
      </p:sp>
    </p:spTree>
    <p:extLst>
      <p:ext uri="{BB962C8B-B14F-4D97-AF65-F5344CB8AC3E}">
        <p14:creationId xmlns:p14="http://schemas.microsoft.com/office/powerpoint/2010/main" val="29138921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965BEC-D7BE-4615-B06B-61D0E3F3D74B}" type="datetimeFigureOut">
              <a:rPr lang="en-IN" smtClean="0"/>
              <a:t>03-12-2025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0EFBB5F-F063-401D-9BF8-8A65AB391213}" type="slidenum">
              <a:rPr lang="en-IN" smtClean="0"/>
              <a:t>‹#›</a:t>
            </a:fld>
            <a:endParaRPr lang="en-IN"/>
          </a:p>
        </p:txBody>
      </p:sp>
    </p:spTree>
    <p:extLst>
      <p:ext uri="{BB962C8B-B14F-4D97-AF65-F5344CB8AC3E}">
        <p14:creationId xmlns:p14="http://schemas.microsoft.com/office/powerpoint/2010/main" val="32227074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965BEC-D7BE-4615-B06B-61D0E3F3D74B}" type="datetimeFigureOut">
              <a:rPr lang="en-IN" smtClean="0"/>
              <a:t>03-12-2025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0EFBB5F-F063-401D-9BF8-8A65AB391213}" type="slidenum">
              <a:rPr lang="en-IN" smtClean="0"/>
              <a:t>‹#›</a:t>
            </a:fld>
            <a:endParaRPr lang="en-IN"/>
          </a:p>
        </p:txBody>
      </p:sp>
    </p:spTree>
    <p:extLst>
      <p:ext uri="{BB962C8B-B14F-4D97-AF65-F5344CB8AC3E}">
        <p14:creationId xmlns:p14="http://schemas.microsoft.com/office/powerpoint/2010/main" val="94855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E965BEC-D7BE-4615-B06B-61D0E3F3D74B}" type="datetimeFigureOut">
              <a:rPr lang="en-IN" smtClean="0"/>
              <a:t>03-12-2025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0EFBB5F-F063-401D-9BF8-8A65AB391213}" type="slidenum">
              <a:rPr lang="en-IN" smtClean="0"/>
              <a:t>‹#›</a:t>
            </a:fld>
            <a:endParaRPr lang="en-IN"/>
          </a:p>
        </p:txBody>
      </p:sp>
    </p:spTree>
    <p:extLst>
      <p:ext uri="{BB962C8B-B14F-4D97-AF65-F5344CB8AC3E}">
        <p14:creationId xmlns:p14="http://schemas.microsoft.com/office/powerpoint/2010/main" val="140693892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765D623-D2FA-5154-E693-80CECB665A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747" y="0"/>
            <a:ext cx="12408061" cy="6858000"/>
          </a:xfrm>
        </p:spPr>
      </p:pic>
    </p:spTree>
    <p:extLst>
      <p:ext uri="{BB962C8B-B14F-4D97-AF65-F5344CB8AC3E}">
        <p14:creationId xmlns:p14="http://schemas.microsoft.com/office/powerpoint/2010/main" val="130237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C4B0CC-5F25-CAB9-D71D-A0F33B39F34A}"/>
              </a:ext>
            </a:extLst>
          </p:cNvPr>
          <p:cNvSpPr>
            <a:spLocks noGrp="1"/>
          </p:cNvSpPr>
          <p:nvPr>
            <p:ph type="title"/>
          </p:nvPr>
        </p:nvSpPr>
        <p:spPr>
          <a:xfrm>
            <a:off x="2533547" y="1282356"/>
            <a:ext cx="8311434" cy="4628866"/>
          </a:xfrm>
        </p:spPr>
        <p:txBody>
          <a:bodyPr>
            <a:normAutofit/>
          </a:bodyPr>
          <a:lstStyle/>
          <a:p>
            <a:r>
              <a:rPr lang="en-IN" sz="3600" b="1" dirty="0">
                <a:solidFill>
                  <a:schemeClr val="tx1"/>
                </a:solidFill>
                <a:latin typeface="Times New Roman" panose="02020603050405020304" pitchFamily="18" charset="0"/>
                <a:cs typeface="Times New Roman" panose="02020603050405020304" pitchFamily="18" charset="0"/>
              </a:rPr>
              <a:t>Agenda</a:t>
            </a:r>
          </a:p>
        </p:txBody>
      </p:sp>
      <p:sp>
        <p:nvSpPr>
          <p:cNvPr id="5" name="Content Placeholder 4">
            <a:extLst>
              <a:ext uri="{FF2B5EF4-FFF2-40B4-BE49-F238E27FC236}">
                <a16:creationId xmlns:a16="http://schemas.microsoft.com/office/drawing/2014/main" id="{D067043E-B964-3163-50B8-277405F66890}"/>
              </a:ext>
            </a:extLst>
          </p:cNvPr>
          <p:cNvSpPr>
            <a:spLocks noGrp="1"/>
          </p:cNvSpPr>
          <p:nvPr>
            <p:ph idx="1"/>
          </p:nvPr>
        </p:nvSpPr>
        <p:spPr/>
        <p:txBody>
          <a:bodyPr>
            <a:normAutofit fontScale="92500"/>
          </a:bodyPr>
          <a:lstStyle/>
          <a:p>
            <a:pPr>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Objective of the Project</a:t>
            </a:r>
          </a:p>
          <a:p>
            <a:pPr>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ER Diagram and schema explanation</a:t>
            </a:r>
          </a:p>
          <a:p>
            <a:pPr>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Key analysis questions (use cases)</a:t>
            </a:r>
          </a:p>
          <a:p>
            <a:pPr>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SQL query results with screenshots or summaries</a:t>
            </a:r>
          </a:p>
          <a:p>
            <a:pPr>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Final business insights and recommendations</a:t>
            </a:r>
          </a:p>
          <a:p>
            <a:pPr>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Conclusion (Key finding overall)</a:t>
            </a:r>
          </a:p>
          <a:p>
            <a:pPr>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Q&amp;A Slide </a:t>
            </a:r>
          </a:p>
          <a:p>
            <a:pPr>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Your Experience/Challenges working on SQL – Data </a:t>
            </a:r>
            <a:r>
              <a:rPr lang="en-US" sz="2200" dirty="0">
                <a:solidFill>
                  <a:schemeClr val="tx1"/>
                </a:solidFill>
                <a:latin typeface="Times New Roman" panose="02020603050405020304" pitchFamily="18" charset="0"/>
                <a:cs typeface="Times New Roman" panose="02020603050405020304" pitchFamily="18" charset="0"/>
              </a:rPr>
              <a:t>Analysis Project.</a:t>
            </a:r>
            <a:endParaRPr lang="en-IN"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9017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614E4-6ABB-7727-96B6-C968BF59F480}"/>
              </a:ext>
            </a:extLst>
          </p:cNvPr>
          <p:cNvSpPr>
            <a:spLocks noGrp="1"/>
          </p:cNvSpPr>
          <p:nvPr>
            <p:ph type="title"/>
          </p:nvPr>
        </p:nvSpPr>
        <p:spPr>
          <a:xfrm>
            <a:off x="1475681" y="184284"/>
            <a:ext cx="9760131" cy="945322"/>
          </a:xfrm>
        </p:spPr>
        <p:txBody>
          <a:bodyPr>
            <a:normAutofit/>
          </a:bodyPr>
          <a:lstStyle/>
          <a:p>
            <a:r>
              <a:rPr lang="en-IN" sz="3600" dirty="0">
                <a:solidFill>
                  <a:schemeClr val="tx1"/>
                </a:solidFill>
                <a:latin typeface="Times New Roman" panose="02020603050405020304" pitchFamily="18" charset="0"/>
                <a:cs typeface="Times New Roman" panose="02020603050405020304" pitchFamily="18" charset="0"/>
              </a:rPr>
              <a:t>What is SQL?</a:t>
            </a:r>
          </a:p>
        </p:txBody>
      </p:sp>
      <p:sp>
        <p:nvSpPr>
          <p:cNvPr id="3" name="Content Placeholder 2">
            <a:extLst>
              <a:ext uri="{FF2B5EF4-FFF2-40B4-BE49-F238E27FC236}">
                <a16:creationId xmlns:a16="http://schemas.microsoft.com/office/drawing/2014/main" id="{F209E407-FA96-C359-6FBF-97BBBB03D8B5}"/>
              </a:ext>
            </a:extLst>
          </p:cNvPr>
          <p:cNvSpPr>
            <a:spLocks noGrp="1"/>
          </p:cNvSpPr>
          <p:nvPr>
            <p:ph idx="1"/>
          </p:nvPr>
        </p:nvSpPr>
        <p:spPr>
          <a:xfrm>
            <a:off x="1593668" y="1245326"/>
            <a:ext cx="10598332" cy="5612674"/>
          </a:xfrm>
        </p:spPr>
        <p:txBody>
          <a:bodyPr>
            <a:normAutofit lnSpcReduction="10000"/>
          </a:bodyPr>
          <a:lstStyle/>
          <a:p>
            <a:pPr>
              <a:buFont typeface="Wingdings" panose="05000000000000000000" pitchFamily="2" charset="2"/>
              <a:buChar char="Ø"/>
            </a:pPr>
            <a:r>
              <a:rPr lang="en-US" sz="2000" dirty="0">
                <a:solidFill>
                  <a:schemeClr val="tx1"/>
                </a:solidFill>
                <a:latin typeface="Arial" panose="020B0604020202020204" pitchFamily="34" charset="0"/>
                <a:cs typeface="Arial" panose="020B0604020202020204" pitchFamily="34" charset="0"/>
              </a:rPr>
              <a:t> </a:t>
            </a:r>
            <a:r>
              <a:rPr lang="en-US" sz="2000" dirty="0">
                <a:solidFill>
                  <a:schemeClr val="tx1"/>
                </a:solidFill>
                <a:latin typeface="Times New Roman" panose="02020603050405020304" pitchFamily="18" charset="0"/>
                <a:cs typeface="Times New Roman" panose="02020603050405020304" pitchFamily="18" charset="0"/>
              </a:rPr>
              <a:t>SQL (Structured Query Language) is the industry-standard language used to interact with relational databases.</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 It allows you to create tables, insert data, retrieve information, update records, and manage database security and structure.</a:t>
            </a:r>
          </a:p>
          <a:p>
            <a:pPr marL="0" indent="0">
              <a:buNone/>
            </a:pPr>
            <a:endParaRPr lang="en-US" sz="3600" dirty="0">
              <a:latin typeface="Times New Roman" panose="02020603050405020304" pitchFamily="18" charset="0"/>
              <a:cs typeface="Times New Roman" panose="02020603050405020304" pitchFamily="18" charset="0"/>
            </a:endParaRPr>
          </a:p>
          <a:p>
            <a:pPr marL="0" indent="0">
              <a:buNone/>
            </a:pPr>
            <a:r>
              <a:rPr lang="en-US" sz="3600" dirty="0">
                <a:solidFill>
                  <a:schemeClr val="tx1"/>
                </a:solidFill>
                <a:latin typeface="Times New Roman" panose="02020603050405020304" pitchFamily="18" charset="0"/>
                <a:cs typeface="Times New Roman" panose="02020603050405020304" pitchFamily="18" charset="0"/>
              </a:rPr>
              <a:t>Why SQL is Important?</a:t>
            </a:r>
          </a:p>
          <a:p>
            <a:pPr marL="0" indent="0">
              <a:buNone/>
            </a:pPr>
            <a:r>
              <a:rPr lang="en-IN" sz="2000" dirty="0">
                <a:solidFill>
                  <a:schemeClr val="tx1"/>
                </a:solidFill>
                <a:latin typeface="Times New Roman" panose="02020603050405020304" pitchFamily="18" charset="0"/>
                <a:cs typeface="Times New Roman" panose="02020603050405020304" pitchFamily="18" charset="0"/>
              </a:rPr>
              <a:t>Databases store data for websites, apps, and organizations.</a:t>
            </a:r>
          </a:p>
          <a:p>
            <a:pPr marL="0" indent="0">
              <a:buNone/>
            </a:pPr>
            <a:r>
              <a:rPr lang="en-IN" sz="2000" dirty="0">
                <a:solidFill>
                  <a:schemeClr val="tx1"/>
                </a:solidFill>
                <a:latin typeface="Times New Roman" panose="02020603050405020304" pitchFamily="18" charset="0"/>
                <a:cs typeface="Times New Roman" panose="02020603050405020304" pitchFamily="18" charset="0"/>
              </a:rPr>
              <a:t>SQL allows you to:</a:t>
            </a:r>
          </a:p>
          <a:p>
            <a:pPr marL="0" indent="0">
              <a:buNone/>
            </a:pPr>
            <a:r>
              <a:rPr lang="en-IN" sz="2000" dirty="0">
                <a:solidFill>
                  <a:schemeClr val="tx1"/>
                </a:solidFill>
                <a:latin typeface="Times New Roman" panose="02020603050405020304" pitchFamily="18" charset="0"/>
                <a:cs typeface="Times New Roman" panose="02020603050405020304" pitchFamily="18" charset="0"/>
              </a:rPr>
              <a:t>Add new data (INSERT)</a:t>
            </a:r>
          </a:p>
          <a:p>
            <a:pPr marL="0" indent="0">
              <a:buNone/>
            </a:pPr>
            <a:r>
              <a:rPr lang="en-IN" sz="2000" dirty="0">
                <a:solidFill>
                  <a:schemeClr val="tx1"/>
                </a:solidFill>
                <a:latin typeface="Times New Roman" panose="02020603050405020304" pitchFamily="18" charset="0"/>
                <a:cs typeface="Times New Roman" panose="02020603050405020304" pitchFamily="18" charset="0"/>
              </a:rPr>
              <a:t>Get data (SELECT)</a:t>
            </a:r>
          </a:p>
          <a:p>
            <a:pPr marL="0" indent="0">
              <a:buNone/>
            </a:pPr>
            <a:r>
              <a:rPr lang="en-IN" sz="2000" dirty="0">
                <a:solidFill>
                  <a:schemeClr val="tx1"/>
                </a:solidFill>
                <a:latin typeface="Times New Roman" panose="02020603050405020304" pitchFamily="18" charset="0"/>
                <a:cs typeface="Times New Roman" panose="02020603050405020304" pitchFamily="18" charset="0"/>
              </a:rPr>
              <a:t>Update data (UPDATE)</a:t>
            </a:r>
          </a:p>
          <a:p>
            <a:pPr marL="0" indent="0">
              <a:buNone/>
            </a:pPr>
            <a:r>
              <a:rPr lang="en-IN" sz="2000" dirty="0">
                <a:solidFill>
                  <a:schemeClr val="tx1"/>
                </a:solidFill>
                <a:latin typeface="Times New Roman" panose="02020603050405020304" pitchFamily="18" charset="0"/>
                <a:cs typeface="Times New Roman" panose="02020603050405020304" pitchFamily="18" charset="0"/>
              </a:rPr>
              <a:t>Remove data (DELETE)</a:t>
            </a:r>
          </a:p>
          <a:p>
            <a:pPr marL="0" indent="0">
              <a:buNone/>
            </a:pPr>
            <a:r>
              <a:rPr lang="en-IN" sz="2000" dirty="0">
                <a:solidFill>
                  <a:schemeClr val="tx1"/>
                </a:solidFill>
                <a:latin typeface="Times New Roman" panose="02020603050405020304" pitchFamily="18" charset="0"/>
                <a:cs typeface="Times New Roman" panose="02020603050405020304" pitchFamily="18" charset="0"/>
              </a:rPr>
              <a:t>It’s used in data analysis, software development, business intelligence, etc.</a:t>
            </a:r>
          </a:p>
        </p:txBody>
      </p:sp>
    </p:spTree>
    <p:extLst>
      <p:ext uri="{BB962C8B-B14F-4D97-AF65-F5344CB8AC3E}">
        <p14:creationId xmlns:p14="http://schemas.microsoft.com/office/powerpoint/2010/main" val="3670416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218FD-67CE-D95C-1F14-F3C85ABB605D}"/>
              </a:ext>
            </a:extLst>
          </p:cNvPr>
          <p:cNvSpPr>
            <a:spLocks noGrp="1"/>
          </p:cNvSpPr>
          <p:nvPr>
            <p:ph type="title"/>
          </p:nvPr>
        </p:nvSpPr>
        <p:spPr>
          <a:xfrm>
            <a:off x="2194559" y="748936"/>
            <a:ext cx="9997441" cy="3272457"/>
          </a:xfrm>
        </p:spPr>
        <p:txBody>
          <a:bodyPr/>
          <a:lstStyle/>
          <a:p>
            <a:r>
              <a:rPr lang="en-IN" b="1" dirty="0">
                <a:latin typeface="Times New Roman" panose="02020603050405020304" pitchFamily="18" charset="0"/>
                <a:cs typeface="Times New Roman" panose="02020603050405020304" pitchFamily="18" charset="0"/>
              </a:rPr>
              <a:t>Objective</a:t>
            </a:r>
            <a:endParaRPr lang="en-IN" dirty="0"/>
          </a:p>
        </p:txBody>
      </p:sp>
      <p:sp>
        <p:nvSpPr>
          <p:cNvPr id="3" name="Content Placeholder 2">
            <a:extLst>
              <a:ext uri="{FF2B5EF4-FFF2-40B4-BE49-F238E27FC236}">
                <a16:creationId xmlns:a16="http://schemas.microsoft.com/office/drawing/2014/main" id="{5BF0E7D3-C4FA-B5F6-71F5-765F5B47D814}"/>
              </a:ext>
            </a:extLst>
          </p:cNvPr>
          <p:cNvSpPr>
            <a:spLocks noGrp="1"/>
          </p:cNvSpPr>
          <p:nvPr>
            <p:ph idx="1"/>
          </p:nvPr>
        </p:nvSpPr>
        <p:spPr>
          <a:xfrm>
            <a:off x="2098766" y="1637211"/>
            <a:ext cx="10093234" cy="4274011"/>
          </a:xfrm>
        </p:spPr>
        <p:txBody>
          <a:bodyPr/>
          <a:lstStyle/>
          <a:p>
            <a:pPr marL="0" indent="0" algn="just">
              <a:buNone/>
            </a:pPr>
            <a:r>
              <a:rPr lang="en-US" altLang="en-US" sz="2400" dirty="0">
                <a:solidFill>
                  <a:schemeClr val="tx1"/>
                </a:solidFill>
                <a:latin typeface="Times New Roman" panose="02020603050405020304" pitchFamily="18" charset="0"/>
                <a:cs typeface="Times New Roman" panose="02020603050405020304" pitchFamily="18" charset="0"/>
              </a:rPr>
              <a:t>The objective of a Library Management System is to simplify and automate library tasks such as managing books, users, issuing and returning books, and tracking due dates and fines. It helps librarians work more efficiently and allows users to easily search, reserve, and borrow books. The system also ensures accurate record-keeping, reduces manual errors, and improves overall library service and organization.</a:t>
            </a:r>
          </a:p>
          <a:p>
            <a:pPr marL="0" indent="0">
              <a:buNone/>
            </a:pPr>
            <a:endParaRPr lang="en-IN" dirty="0"/>
          </a:p>
        </p:txBody>
      </p:sp>
    </p:spTree>
    <p:extLst>
      <p:ext uri="{BB962C8B-B14F-4D97-AF65-F5344CB8AC3E}">
        <p14:creationId xmlns:p14="http://schemas.microsoft.com/office/powerpoint/2010/main" val="4167789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D6B2C-704C-EB86-DA78-D7F29E3D240D}"/>
              </a:ext>
            </a:extLst>
          </p:cNvPr>
          <p:cNvSpPr>
            <a:spLocks noGrp="1"/>
          </p:cNvSpPr>
          <p:nvPr>
            <p:ph type="title"/>
          </p:nvPr>
        </p:nvSpPr>
        <p:spPr>
          <a:xfrm>
            <a:off x="1846217" y="624110"/>
            <a:ext cx="9658395" cy="926016"/>
          </a:xfrm>
        </p:spPr>
        <p:txBody>
          <a:bodyPr>
            <a:normAutofit/>
          </a:bodyPr>
          <a:lstStyle/>
          <a:p>
            <a:r>
              <a:rPr lang="en-IN" b="1" dirty="0">
                <a:latin typeface="Times New Roman" panose="02020603050405020304" pitchFamily="18" charset="0"/>
                <a:cs typeface="Times New Roman" panose="02020603050405020304" pitchFamily="18" charset="0"/>
              </a:rPr>
              <a:t>ER Diagram</a:t>
            </a:r>
          </a:p>
        </p:txBody>
      </p:sp>
      <p:pic>
        <p:nvPicPr>
          <p:cNvPr id="5" name="Content Placeholder 4">
            <a:extLst>
              <a:ext uri="{FF2B5EF4-FFF2-40B4-BE49-F238E27FC236}">
                <a16:creationId xmlns:a16="http://schemas.microsoft.com/office/drawing/2014/main" id="{09DEF6C8-B31D-A899-3D75-C8A802E71CE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5508" y="1374507"/>
            <a:ext cx="10040983" cy="4859383"/>
          </a:xfrm>
        </p:spPr>
      </p:pic>
    </p:spTree>
    <p:extLst>
      <p:ext uri="{BB962C8B-B14F-4D97-AF65-F5344CB8AC3E}">
        <p14:creationId xmlns:p14="http://schemas.microsoft.com/office/powerpoint/2010/main" val="1839355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8CC1F-7648-0829-8AED-2C3955326A60}"/>
              </a:ext>
            </a:extLst>
          </p:cNvPr>
          <p:cNvSpPr>
            <a:spLocks noGrp="1"/>
          </p:cNvSpPr>
          <p:nvPr>
            <p:ph type="title"/>
          </p:nvPr>
        </p:nvSpPr>
        <p:spPr>
          <a:xfrm>
            <a:off x="1793966" y="0"/>
            <a:ext cx="10049689" cy="775063"/>
          </a:xfrm>
        </p:spPr>
        <p:txBody>
          <a:bodyPr/>
          <a:lstStyle/>
          <a:p>
            <a:r>
              <a:rPr lang="en-IN" b="1" dirty="0">
                <a:latin typeface="Times New Roman" panose="02020603050405020304" pitchFamily="18" charset="0"/>
                <a:cs typeface="Times New Roman" panose="02020603050405020304" pitchFamily="18" charset="0"/>
              </a:rPr>
              <a:t>Tables</a:t>
            </a:r>
          </a:p>
        </p:txBody>
      </p:sp>
      <p:sp>
        <p:nvSpPr>
          <p:cNvPr id="3" name="Content Placeholder 2">
            <a:extLst>
              <a:ext uri="{FF2B5EF4-FFF2-40B4-BE49-F238E27FC236}">
                <a16:creationId xmlns:a16="http://schemas.microsoft.com/office/drawing/2014/main" id="{1E6477B0-E054-09F4-DB33-8CA13DE3B42B}"/>
              </a:ext>
            </a:extLst>
          </p:cNvPr>
          <p:cNvSpPr>
            <a:spLocks noGrp="1"/>
          </p:cNvSpPr>
          <p:nvPr>
            <p:ph idx="1"/>
          </p:nvPr>
        </p:nvSpPr>
        <p:spPr>
          <a:xfrm>
            <a:off x="531223" y="1262743"/>
            <a:ext cx="11974286" cy="5207726"/>
          </a:xfrm>
        </p:spPr>
        <p:txBody>
          <a:bodyPr>
            <a:normAutofit/>
          </a:bodyPr>
          <a:lstStyle/>
          <a:p>
            <a:pPr marL="0" indent="0">
              <a:buNone/>
            </a:pPr>
            <a:r>
              <a:rPr lang="en-IN" sz="2800" dirty="0">
                <a:latin typeface="Times New Roman" panose="02020603050405020304" pitchFamily="18" charset="0"/>
                <a:cs typeface="Times New Roman" panose="02020603050405020304" pitchFamily="18" charset="0"/>
              </a:rPr>
              <a:t>Publisher                                                                           Books</a:t>
            </a:r>
          </a:p>
          <a:p>
            <a:pPr marL="0" indent="0">
              <a:buNone/>
            </a:pPr>
            <a:endParaRPr lang="en-IN"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F80EAD87-E962-39B9-811F-B0545A128C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715" y="2194558"/>
            <a:ext cx="6122125" cy="3579224"/>
          </a:xfrm>
          <a:prstGeom prst="rect">
            <a:avLst/>
          </a:prstGeom>
        </p:spPr>
      </p:pic>
      <p:pic>
        <p:nvPicPr>
          <p:cNvPr id="11" name="Picture 10">
            <a:extLst>
              <a:ext uri="{FF2B5EF4-FFF2-40B4-BE49-F238E27FC236}">
                <a16:creationId xmlns:a16="http://schemas.microsoft.com/office/drawing/2014/main" id="{9A1EB4BF-20B7-7BA2-7BD5-A6DFEF3C22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4828" y="2194559"/>
            <a:ext cx="5640680" cy="3579223"/>
          </a:xfrm>
          <a:prstGeom prst="rect">
            <a:avLst/>
          </a:prstGeom>
        </p:spPr>
      </p:pic>
    </p:spTree>
    <p:extLst>
      <p:ext uri="{BB962C8B-B14F-4D97-AF65-F5344CB8AC3E}">
        <p14:creationId xmlns:p14="http://schemas.microsoft.com/office/powerpoint/2010/main" val="110142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E00BF-74A2-A4A5-4C5C-CA761F648CEF}"/>
              </a:ext>
            </a:extLst>
          </p:cNvPr>
          <p:cNvSpPr>
            <a:spLocks noGrp="1"/>
          </p:cNvSpPr>
          <p:nvPr>
            <p:ph type="title"/>
          </p:nvPr>
        </p:nvSpPr>
        <p:spPr>
          <a:xfrm>
            <a:off x="1738296" y="74023"/>
            <a:ext cx="9928360" cy="862149"/>
          </a:xfrm>
        </p:spPr>
        <p:txBody>
          <a:bodyPr>
            <a:normAutofit/>
          </a:bodyPr>
          <a:lstStyle/>
          <a:p>
            <a:r>
              <a:rPr lang="en-IN" sz="3600" dirty="0">
                <a:latin typeface="Times New Roman" panose="02020603050405020304" pitchFamily="18" charset="0"/>
                <a:cs typeface="Times New Roman" panose="02020603050405020304" pitchFamily="18" charset="0"/>
              </a:rPr>
              <a:t>Book authors</a:t>
            </a:r>
            <a:endParaRPr lang="en-IN" sz="3600" dirty="0"/>
          </a:p>
        </p:txBody>
      </p:sp>
      <p:sp>
        <p:nvSpPr>
          <p:cNvPr id="3" name="Text Placeholder 2">
            <a:extLst>
              <a:ext uri="{FF2B5EF4-FFF2-40B4-BE49-F238E27FC236}">
                <a16:creationId xmlns:a16="http://schemas.microsoft.com/office/drawing/2014/main" id="{0F34EBC5-2509-9F7E-270E-8BD130C9F70E}"/>
              </a:ext>
            </a:extLst>
          </p:cNvPr>
          <p:cNvSpPr>
            <a:spLocks noGrp="1"/>
          </p:cNvSpPr>
          <p:nvPr>
            <p:ph type="body" idx="1"/>
          </p:nvPr>
        </p:nvSpPr>
        <p:spPr>
          <a:xfrm>
            <a:off x="1576251" y="3466011"/>
            <a:ext cx="9928361" cy="862149"/>
          </a:xfrm>
        </p:spPr>
        <p:txBody>
          <a:bodyPr>
            <a:normAutofit/>
          </a:bodyPr>
          <a:lstStyle/>
          <a:p>
            <a:r>
              <a:rPr lang="en-IN" sz="3200" dirty="0">
                <a:latin typeface="Times New Roman" panose="02020603050405020304" pitchFamily="18" charset="0"/>
                <a:cs typeface="Times New Roman" panose="02020603050405020304" pitchFamily="18" charset="0"/>
              </a:rPr>
              <a:t>Branch</a:t>
            </a:r>
          </a:p>
        </p:txBody>
      </p:sp>
      <p:pic>
        <p:nvPicPr>
          <p:cNvPr id="5" name="Picture 4">
            <a:extLst>
              <a:ext uri="{FF2B5EF4-FFF2-40B4-BE49-F238E27FC236}">
                <a16:creationId xmlns:a16="http://schemas.microsoft.com/office/drawing/2014/main" id="{F8BAA5BC-4703-CCCE-38FA-F683753A9D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642" y="980803"/>
            <a:ext cx="6561932" cy="2566852"/>
          </a:xfrm>
          <a:prstGeom prst="rect">
            <a:avLst/>
          </a:prstGeom>
        </p:spPr>
      </p:pic>
      <p:pic>
        <p:nvPicPr>
          <p:cNvPr id="7" name="Picture 6">
            <a:extLst>
              <a:ext uri="{FF2B5EF4-FFF2-40B4-BE49-F238E27FC236}">
                <a16:creationId xmlns:a16="http://schemas.microsoft.com/office/drawing/2014/main" id="{09356183-48E9-B473-1A6F-B0BB6EC9A2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9731" y="4252944"/>
            <a:ext cx="7792537" cy="2605055"/>
          </a:xfrm>
          <a:prstGeom prst="rect">
            <a:avLst/>
          </a:prstGeom>
        </p:spPr>
      </p:pic>
    </p:spTree>
    <p:extLst>
      <p:ext uri="{BB962C8B-B14F-4D97-AF65-F5344CB8AC3E}">
        <p14:creationId xmlns:p14="http://schemas.microsoft.com/office/powerpoint/2010/main" val="4056275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74853-DAB1-3BE7-CF84-CCB9FA119389}"/>
              </a:ext>
            </a:extLst>
          </p:cNvPr>
          <p:cNvSpPr>
            <a:spLocks noGrp="1"/>
          </p:cNvSpPr>
          <p:nvPr>
            <p:ph type="title"/>
          </p:nvPr>
        </p:nvSpPr>
        <p:spPr>
          <a:xfrm>
            <a:off x="1576252" y="-130629"/>
            <a:ext cx="9928360" cy="1078719"/>
          </a:xfrm>
        </p:spPr>
        <p:txBody>
          <a:bodyPr>
            <a:normAutofit/>
          </a:bodyPr>
          <a:lstStyle/>
          <a:p>
            <a:r>
              <a:rPr lang="en-IN" sz="3600" dirty="0">
                <a:latin typeface="Times New Roman" panose="02020603050405020304" pitchFamily="18" charset="0"/>
                <a:cs typeface="Times New Roman" panose="02020603050405020304" pitchFamily="18" charset="0"/>
              </a:rPr>
              <a:t>Book copies</a:t>
            </a:r>
          </a:p>
        </p:txBody>
      </p:sp>
      <p:sp>
        <p:nvSpPr>
          <p:cNvPr id="3" name="Text Placeholder 2">
            <a:extLst>
              <a:ext uri="{FF2B5EF4-FFF2-40B4-BE49-F238E27FC236}">
                <a16:creationId xmlns:a16="http://schemas.microsoft.com/office/drawing/2014/main" id="{1F5CC11C-2AF7-6286-0D18-EEBC025ADFD0}"/>
              </a:ext>
            </a:extLst>
          </p:cNvPr>
          <p:cNvSpPr>
            <a:spLocks noGrp="1"/>
          </p:cNvSpPr>
          <p:nvPr>
            <p:ph type="body" idx="1"/>
          </p:nvPr>
        </p:nvSpPr>
        <p:spPr>
          <a:xfrm>
            <a:off x="1733006" y="2586447"/>
            <a:ext cx="9771605" cy="1985554"/>
          </a:xfrm>
        </p:spPr>
        <p:txBody>
          <a:bodyPr>
            <a:normAutofit/>
          </a:bodyPr>
          <a:lstStyle/>
          <a:p>
            <a:r>
              <a:rPr lang="en-IN" sz="3200" dirty="0">
                <a:latin typeface="Times New Roman" panose="02020603050405020304" pitchFamily="18" charset="0"/>
                <a:cs typeface="Times New Roman" panose="02020603050405020304" pitchFamily="18" charset="0"/>
              </a:rPr>
              <a:t>Borrower</a:t>
            </a:r>
          </a:p>
        </p:txBody>
      </p:sp>
      <p:pic>
        <p:nvPicPr>
          <p:cNvPr id="5" name="Picture 4">
            <a:extLst>
              <a:ext uri="{FF2B5EF4-FFF2-40B4-BE49-F238E27FC236}">
                <a16:creationId xmlns:a16="http://schemas.microsoft.com/office/drawing/2014/main" id="{5530F384-35FC-F48D-74BA-D92E00FE41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5040" y="948090"/>
            <a:ext cx="6032274" cy="2326333"/>
          </a:xfrm>
          <a:prstGeom prst="rect">
            <a:avLst/>
          </a:prstGeom>
        </p:spPr>
      </p:pic>
      <p:pic>
        <p:nvPicPr>
          <p:cNvPr id="7" name="Picture 6">
            <a:extLst>
              <a:ext uri="{FF2B5EF4-FFF2-40B4-BE49-F238E27FC236}">
                <a16:creationId xmlns:a16="http://schemas.microsoft.com/office/drawing/2014/main" id="{820AE160-3B60-E171-73F9-B02010F14E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8649" y="4032069"/>
            <a:ext cx="8305226" cy="2525485"/>
          </a:xfrm>
          <a:prstGeom prst="rect">
            <a:avLst/>
          </a:prstGeom>
        </p:spPr>
      </p:pic>
    </p:spTree>
    <p:extLst>
      <p:ext uri="{BB962C8B-B14F-4D97-AF65-F5344CB8AC3E}">
        <p14:creationId xmlns:p14="http://schemas.microsoft.com/office/powerpoint/2010/main" val="3700998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5A668-9095-9F41-6E7F-F1A21C9C65FA}"/>
              </a:ext>
            </a:extLst>
          </p:cNvPr>
          <p:cNvSpPr>
            <a:spLocks noGrp="1"/>
          </p:cNvSpPr>
          <p:nvPr>
            <p:ph type="title"/>
          </p:nvPr>
        </p:nvSpPr>
        <p:spPr>
          <a:xfrm>
            <a:off x="2246812" y="624110"/>
            <a:ext cx="9257800" cy="1280890"/>
          </a:xfrm>
        </p:spPr>
        <p:txBody>
          <a:bodyPr/>
          <a:lstStyle/>
          <a:p>
            <a:r>
              <a:rPr lang="en-IN" dirty="0">
                <a:latin typeface="Times New Roman" panose="02020603050405020304" pitchFamily="18" charset="0"/>
                <a:cs typeface="Times New Roman" panose="02020603050405020304" pitchFamily="18" charset="0"/>
              </a:rPr>
              <a:t>Book loans</a:t>
            </a:r>
          </a:p>
        </p:txBody>
      </p:sp>
      <p:pic>
        <p:nvPicPr>
          <p:cNvPr id="4" name="Picture 3">
            <a:extLst>
              <a:ext uri="{FF2B5EF4-FFF2-40B4-BE49-F238E27FC236}">
                <a16:creationId xmlns:a16="http://schemas.microsoft.com/office/drawing/2014/main" id="{24F3D571-F7E1-CA4A-EB19-D9D0DC125B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6762" y="1530533"/>
            <a:ext cx="8717899" cy="3015342"/>
          </a:xfrm>
          <a:prstGeom prst="rect">
            <a:avLst/>
          </a:prstGeom>
        </p:spPr>
      </p:pic>
    </p:spTree>
    <p:extLst>
      <p:ext uri="{BB962C8B-B14F-4D97-AF65-F5344CB8AC3E}">
        <p14:creationId xmlns:p14="http://schemas.microsoft.com/office/powerpoint/2010/main" val="2226818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F8B63-C95D-B718-A140-6F7668C69F7B}"/>
              </a:ext>
            </a:extLst>
          </p:cNvPr>
          <p:cNvSpPr>
            <a:spLocks noGrp="1"/>
          </p:cNvSpPr>
          <p:nvPr>
            <p:ph type="title"/>
          </p:nvPr>
        </p:nvSpPr>
        <p:spPr>
          <a:xfrm>
            <a:off x="1474839" y="442453"/>
            <a:ext cx="10029773" cy="6223818"/>
          </a:xfrm>
        </p:spPr>
        <p:txBody>
          <a:bodyPr>
            <a:noAutofit/>
          </a:bodyPr>
          <a:lstStyle/>
          <a:p>
            <a:r>
              <a:rPr lang="en-US" sz="3200" dirty="0">
                <a:latin typeface="Times New Roman" panose="02020603050405020304" pitchFamily="18" charset="0"/>
                <a:cs typeface="Times New Roman" panose="02020603050405020304" pitchFamily="18" charset="0"/>
              </a:rPr>
              <a:t>1.How many copies of the book titled "The Lost Tribe" are owned by the library branch whose name is "Sharpstown“?</a:t>
            </a: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Query:</a:t>
            </a: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Output:</a:t>
            </a: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4431A1E-9A4C-ECEA-75FC-5625B998BE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6106" y="2654710"/>
            <a:ext cx="8168165" cy="2408903"/>
          </a:xfrm>
          <a:prstGeom prst="rect">
            <a:avLst/>
          </a:prstGeom>
        </p:spPr>
      </p:pic>
      <p:pic>
        <p:nvPicPr>
          <p:cNvPr id="6" name="Picture 5">
            <a:extLst>
              <a:ext uri="{FF2B5EF4-FFF2-40B4-BE49-F238E27FC236}">
                <a16:creationId xmlns:a16="http://schemas.microsoft.com/office/drawing/2014/main" id="{BF06D568-B184-B602-8E56-13A608D75E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63897" y="5476567"/>
            <a:ext cx="3215148" cy="1268361"/>
          </a:xfrm>
          <a:prstGeom prst="rect">
            <a:avLst/>
          </a:prstGeom>
        </p:spPr>
      </p:pic>
    </p:spTree>
    <p:extLst>
      <p:ext uri="{BB962C8B-B14F-4D97-AF65-F5344CB8AC3E}">
        <p14:creationId xmlns:p14="http://schemas.microsoft.com/office/powerpoint/2010/main" val="4264383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6E296-3565-F2A0-D1CB-6DBF8D97312C}"/>
              </a:ext>
            </a:extLst>
          </p:cNvPr>
          <p:cNvSpPr>
            <a:spLocks noGrp="1"/>
          </p:cNvSpPr>
          <p:nvPr>
            <p:ph type="title"/>
          </p:nvPr>
        </p:nvSpPr>
        <p:spPr>
          <a:xfrm>
            <a:off x="1809136" y="206477"/>
            <a:ext cx="9233360" cy="1388124"/>
          </a:xfrm>
        </p:spPr>
        <p:txBody>
          <a:bodyPr>
            <a:normAutofit/>
          </a:bodyPr>
          <a:lstStyle/>
          <a:p>
            <a:r>
              <a:rPr lang="en-US" dirty="0">
                <a:latin typeface="Times New Roman" panose="02020603050405020304" pitchFamily="18" charset="0"/>
                <a:cs typeface="Times New Roman" panose="02020603050405020304" pitchFamily="18" charset="0"/>
              </a:rPr>
              <a:t>2.How many copies of the book titled "The Lost Tribe" are owned by each library branch?</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B53FC84-33BE-9D6B-F709-ACE5C81DD26E}"/>
              </a:ext>
            </a:extLst>
          </p:cNvPr>
          <p:cNvSpPr>
            <a:spLocks noGrp="1"/>
          </p:cNvSpPr>
          <p:nvPr>
            <p:ph sz="half" idx="1"/>
          </p:nvPr>
        </p:nvSpPr>
        <p:spPr>
          <a:xfrm>
            <a:off x="618600" y="1384187"/>
            <a:ext cx="10916907" cy="4426551"/>
          </a:xfrm>
        </p:spPr>
        <p:txBody>
          <a:bodyPr>
            <a:normAutofit fontScale="25000" lnSpcReduction="20000"/>
          </a:bodyPr>
          <a:lstStyle/>
          <a:p>
            <a:pPr marL="0" indent="0">
              <a:buNone/>
            </a:pPr>
            <a:r>
              <a:rPr lang="en-IN" sz="11200" b="1" dirty="0">
                <a:latin typeface="Times New Roman" panose="02020603050405020304" pitchFamily="18" charset="0"/>
                <a:cs typeface="Times New Roman" panose="02020603050405020304" pitchFamily="18" charset="0"/>
              </a:rPr>
              <a:t>Query:</a:t>
            </a: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r>
              <a:rPr lang="en-IN" sz="3200" b="1" dirty="0">
                <a:latin typeface="Times New Roman" panose="02020603050405020304" pitchFamily="18" charset="0"/>
                <a:cs typeface="Times New Roman" panose="02020603050405020304" pitchFamily="18" charset="0"/>
              </a:rPr>
              <a:t>                                                                                                                                                                                                                                                                </a:t>
            </a:r>
            <a:r>
              <a:rPr lang="en-IN" sz="11200" b="1" dirty="0">
                <a:latin typeface="Times New Roman" panose="02020603050405020304" pitchFamily="18" charset="0"/>
                <a:cs typeface="Times New Roman" panose="02020603050405020304" pitchFamily="18" charset="0"/>
              </a:rPr>
              <a:t>Output:</a:t>
            </a: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r>
              <a:rPr lang="en-IN" sz="3200" b="1" dirty="0">
                <a:latin typeface="Times New Roman" panose="02020603050405020304" pitchFamily="18" charset="0"/>
                <a:cs typeface="Times New Roman" panose="02020603050405020304" pitchFamily="18" charset="0"/>
              </a:rPr>
              <a:t>  </a:t>
            </a: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endParaRPr lang="en-IN" sz="3200" b="1" dirty="0">
              <a:latin typeface="Times New Roman" panose="02020603050405020304" pitchFamily="18" charset="0"/>
              <a:cs typeface="Times New Roman" panose="02020603050405020304" pitchFamily="18" charset="0"/>
            </a:endParaRPr>
          </a:p>
          <a:p>
            <a:pPr marL="0" indent="0">
              <a:buNone/>
            </a:pPr>
            <a:r>
              <a:rPr lang="en-IN" sz="3200" b="1" dirty="0">
                <a:latin typeface="Times New Roman" panose="02020603050405020304" pitchFamily="18" charset="0"/>
                <a:cs typeface="Times New Roman" panose="02020603050405020304" pitchFamily="18" charset="0"/>
              </a:rPr>
              <a:t>                                                                                                                                                            </a:t>
            </a:r>
          </a:p>
        </p:txBody>
      </p:sp>
      <p:pic>
        <p:nvPicPr>
          <p:cNvPr id="6" name="Content Placeholder 5">
            <a:extLst>
              <a:ext uri="{FF2B5EF4-FFF2-40B4-BE49-F238E27FC236}">
                <a16:creationId xmlns:a16="http://schemas.microsoft.com/office/drawing/2014/main" id="{BC2E31B3-BDB3-E0C3-D291-F112EE2ADFB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037160" y="2113935"/>
            <a:ext cx="8185498" cy="2605549"/>
          </a:xfrm>
        </p:spPr>
      </p:pic>
      <p:pic>
        <p:nvPicPr>
          <p:cNvPr id="8" name="Picture 7">
            <a:extLst>
              <a:ext uri="{FF2B5EF4-FFF2-40B4-BE49-F238E27FC236}">
                <a16:creationId xmlns:a16="http://schemas.microsoft.com/office/drawing/2014/main" id="{324BE4D1-DAB6-4632-6951-48ED7FA87A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4903" y="5127078"/>
            <a:ext cx="3569110" cy="1730922"/>
          </a:xfrm>
          <a:prstGeom prst="rect">
            <a:avLst/>
          </a:prstGeom>
        </p:spPr>
      </p:pic>
    </p:spTree>
    <p:extLst>
      <p:ext uri="{BB962C8B-B14F-4D97-AF65-F5344CB8AC3E}">
        <p14:creationId xmlns:p14="http://schemas.microsoft.com/office/powerpoint/2010/main" val="3450973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AE6F4-FB30-5544-0E61-67ECB64F435C}"/>
              </a:ext>
            </a:extLst>
          </p:cNvPr>
          <p:cNvSpPr>
            <a:spLocks noGrp="1"/>
          </p:cNvSpPr>
          <p:nvPr>
            <p:ph type="title"/>
          </p:nvPr>
        </p:nvSpPr>
        <p:spPr>
          <a:xfrm>
            <a:off x="1622324" y="344129"/>
            <a:ext cx="9882288" cy="1238865"/>
          </a:xfrm>
        </p:spPr>
        <p:txBody>
          <a:bodyPr>
            <a:normAutofit fontScale="90000"/>
          </a:bodyPr>
          <a:lstStyle/>
          <a:p>
            <a:r>
              <a:rPr lang="en-US" dirty="0">
                <a:latin typeface="Times New Roman" panose="02020603050405020304" pitchFamily="18" charset="0"/>
                <a:cs typeface="Times New Roman" panose="02020603050405020304" pitchFamily="18" charset="0"/>
              </a:rPr>
              <a:t>3.Retrieve the names of all borrowers who do not have any books checked out.?</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Query:</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Output:</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938D969-F47C-A3FC-D347-CA357B02A3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0683" y="2412336"/>
            <a:ext cx="6448579" cy="2045364"/>
          </a:xfrm>
          <a:prstGeom prst="rect">
            <a:avLst/>
          </a:prstGeom>
        </p:spPr>
      </p:pic>
      <p:pic>
        <p:nvPicPr>
          <p:cNvPr id="6" name="Picture 5">
            <a:extLst>
              <a:ext uri="{FF2B5EF4-FFF2-40B4-BE49-F238E27FC236}">
                <a16:creationId xmlns:a16="http://schemas.microsoft.com/office/drawing/2014/main" id="{31A34D0C-EC35-550D-EBE4-F2AAD9C390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0133" y="5358581"/>
            <a:ext cx="3905389" cy="1504494"/>
          </a:xfrm>
          <a:prstGeom prst="rect">
            <a:avLst/>
          </a:prstGeom>
        </p:spPr>
      </p:pic>
    </p:spTree>
    <p:extLst>
      <p:ext uri="{BB962C8B-B14F-4D97-AF65-F5344CB8AC3E}">
        <p14:creationId xmlns:p14="http://schemas.microsoft.com/office/powerpoint/2010/main" val="6548997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A46CA-4329-F132-AD4C-279468ACA846}"/>
              </a:ext>
            </a:extLst>
          </p:cNvPr>
          <p:cNvSpPr>
            <a:spLocks noGrp="1"/>
          </p:cNvSpPr>
          <p:nvPr>
            <p:ph type="title"/>
          </p:nvPr>
        </p:nvSpPr>
        <p:spPr>
          <a:xfrm>
            <a:off x="1504335" y="176981"/>
            <a:ext cx="10000277" cy="1728019"/>
          </a:xfrm>
        </p:spPr>
        <p:txBody>
          <a:bodyPr>
            <a:normAutofit fontScale="90000"/>
          </a:bodyPr>
          <a:lstStyle/>
          <a:p>
            <a:r>
              <a:rPr lang="en-US" dirty="0">
                <a:latin typeface="Times New Roman" panose="02020603050405020304" pitchFamily="18" charset="0"/>
                <a:cs typeface="Times New Roman" panose="02020603050405020304" pitchFamily="18" charset="0"/>
              </a:rPr>
              <a:t>4.For each book that is loaned out from the "Sharpstown" branch and whose Due Date is 2/3/18, retrieve the book title, the borrower's name, and the borrower's address.?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Query:</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Output:</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26642E5-CE6E-9B5C-F18F-EF33C22771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1987" y="2389238"/>
            <a:ext cx="8135425" cy="3020961"/>
          </a:xfrm>
          <a:prstGeom prst="rect">
            <a:avLst/>
          </a:prstGeom>
        </p:spPr>
      </p:pic>
      <p:pic>
        <p:nvPicPr>
          <p:cNvPr id="6" name="Picture 5">
            <a:extLst>
              <a:ext uri="{FF2B5EF4-FFF2-40B4-BE49-F238E27FC236}">
                <a16:creationId xmlns:a16="http://schemas.microsoft.com/office/drawing/2014/main" id="{B3A08B93-4506-1F25-094A-6CC6E04EC1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50942" y="5076357"/>
            <a:ext cx="3441290" cy="1604662"/>
          </a:xfrm>
          <a:prstGeom prst="rect">
            <a:avLst/>
          </a:prstGeom>
        </p:spPr>
      </p:pic>
    </p:spTree>
    <p:extLst>
      <p:ext uri="{BB962C8B-B14F-4D97-AF65-F5344CB8AC3E}">
        <p14:creationId xmlns:p14="http://schemas.microsoft.com/office/powerpoint/2010/main" val="2659012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14C38-14F7-62D0-0644-41681305C0BB}"/>
              </a:ext>
            </a:extLst>
          </p:cNvPr>
          <p:cNvSpPr>
            <a:spLocks noGrp="1"/>
          </p:cNvSpPr>
          <p:nvPr>
            <p:ph type="title"/>
          </p:nvPr>
        </p:nvSpPr>
        <p:spPr>
          <a:xfrm>
            <a:off x="1877962" y="412955"/>
            <a:ext cx="9626650" cy="1492045"/>
          </a:xfrm>
        </p:spPr>
        <p:txBody>
          <a:bodyPr>
            <a:normAutofit fontScale="90000"/>
          </a:bodyPr>
          <a:lstStyle/>
          <a:p>
            <a:r>
              <a:rPr lang="en-US" dirty="0">
                <a:latin typeface="Times New Roman" panose="02020603050405020304" pitchFamily="18" charset="0"/>
                <a:cs typeface="Times New Roman" panose="02020603050405020304" pitchFamily="18" charset="0"/>
              </a:rPr>
              <a:t>5.For each library branch, retrieve the branch name and the total number of books loaned out from that branch.?</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Query:</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Output:</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D625C5B-FBFE-72FD-B7AC-98DB7BBAB1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7950" y="2664542"/>
            <a:ext cx="6896100" cy="2202426"/>
          </a:xfrm>
          <a:prstGeom prst="rect">
            <a:avLst/>
          </a:prstGeom>
        </p:spPr>
      </p:pic>
      <p:pic>
        <p:nvPicPr>
          <p:cNvPr id="6" name="Picture 5">
            <a:extLst>
              <a:ext uri="{FF2B5EF4-FFF2-40B4-BE49-F238E27FC236}">
                <a16:creationId xmlns:a16="http://schemas.microsoft.com/office/drawing/2014/main" id="{618BF2F6-9760-FF61-49A8-6298B4EA52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06580" y="4866968"/>
            <a:ext cx="3785420" cy="1671484"/>
          </a:xfrm>
          <a:prstGeom prst="rect">
            <a:avLst/>
          </a:prstGeom>
        </p:spPr>
      </p:pic>
    </p:spTree>
    <p:extLst>
      <p:ext uri="{BB962C8B-B14F-4D97-AF65-F5344CB8AC3E}">
        <p14:creationId xmlns:p14="http://schemas.microsoft.com/office/powerpoint/2010/main" val="50590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0C4F4-FB01-36D5-2388-EED009401144}"/>
              </a:ext>
            </a:extLst>
          </p:cNvPr>
          <p:cNvSpPr>
            <a:spLocks noGrp="1"/>
          </p:cNvSpPr>
          <p:nvPr>
            <p:ph type="title"/>
          </p:nvPr>
        </p:nvSpPr>
        <p:spPr>
          <a:xfrm>
            <a:off x="1868129" y="265471"/>
            <a:ext cx="9636483" cy="1639529"/>
          </a:xfrm>
        </p:spPr>
        <p:txBody>
          <a:bodyPr>
            <a:normAutofit fontScale="90000"/>
          </a:bodyPr>
          <a:lstStyle/>
          <a:p>
            <a:r>
              <a:rPr lang="en-US" dirty="0">
                <a:latin typeface="Times New Roman" panose="02020603050405020304" pitchFamily="18" charset="0"/>
                <a:cs typeface="Times New Roman" panose="02020603050405020304" pitchFamily="18" charset="0"/>
              </a:rPr>
              <a:t>6.Retrieve the names, addresses, and number of books checked out for all borrowers who have more than five books checked out.?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Query:</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Output:</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8564BC1-0230-9A49-9ACE-3E72B91693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1662" y="2467897"/>
            <a:ext cx="8448675" cy="2615380"/>
          </a:xfrm>
          <a:prstGeom prst="rect">
            <a:avLst/>
          </a:prstGeom>
        </p:spPr>
      </p:pic>
      <p:pic>
        <p:nvPicPr>
          <p:cNvPr id="6" name="Picture 5">
            <a:extLst>
              <a:ext uri="{FF2B5EF4-FFF2-40B4-BE49-F238E27FC236}">
                <a16:creationId xmlns:a16="http://schemas.microsoft.com/office/drawing/2014/main" id="{169AC8F0-7A14-C94D-846A-1979CA6045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72157" y="4837471"/>
            <a:ext cx="3783869" cy="1832485"/>
          </a:xfrm>
          <a:prstGeom prst="rect">
            <a:avLst/>
          </a:prstGeom>
        </p:spPr>
      </p:pic>
    </p:spTree>
    <p:extLst>
      <p:ext uri="{BB962C8B-B14F-4D97-AF65-F5344CB8AC3E}">
        <p14:creationId xmlns:p14="http://schemas.microsoft.com/office/powerpoint/2010/main" val="3411910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44A07-B84E-1AA5-E9CB-2D57AE12F7F0}"/>
              </a:ext>
            </a:extLst>
          </p:cNvPr>
          <p:cNvSpPr>
            <a:spLocks noGrp="1"/>
          </p:cNvSpPr>
          <p:nvPr>
            <p:ph type="title"/>
          </p:nvPr>
        </p:nvSpPr>
        <p:spPr>
          <a:xfrm>
            <a:off x="1799304" y="186813"/>
            <a:ext cx="9705308" cy="1718187"/>
          </a:xfrm>
        </p:spPr>
        <p:txBody>
          <a:bodyPr>
            <a:normAutofit fontScale="90000"/>
          </a:bodyPr>
          <a:lstStyle/>
          <a:p>
            <a:r>
              <a:rPr lang="en-US" dirty="0">
                <a:latin typeface="Times New Roman" panose="02020603050405020304" pitchFamily="18" charset="0"/>
                <a:cs typeface="Times New Roman" panose="02020603050405020304" pitchFamily="18" charset="0"/>
              </a:rPr>
              <a:t>7.For each book authored by "Stephen King", retrieve the title and the number of copies owned by the library branch whose name is "Central“?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Query:</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Output:</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7BF11C5-CBC8-CA62-EE8A-9589282749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1625" y="2349909"/>
            <a:ext cx="9048750" cy="2707865"/>
          </a:xfrm>
          <a:prstGeom prst="rect">
            <a:avLst/>
          </a:prstGeom>
        </p:spPr>
      </p:pic>
      <p:pic>
        <p:nvPicPr>
          <p:cNvPr id="6" name="Picture 5">
            <a:extLst>
              <a:ext uri="{FF2B5EF4-FFF2-40B4-BE49-F238E27FC236}">
                <a16:creationId xmlns:a16="http://schemas.microsoft.com/office/drawing/2014/main" id="{3BDA4DA9-D4BE-7629-21FC-B26185D34D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73" y="5502683"/>
            <a:ext cx="3211671" cy="1231490"/>
          </a:xfrm>
          <a:prstGeom prst="rect">
            <a:avLst/>
          </a:prstGeom>
        </p:spPr>
      </p:pic>
    </p:spTree>
    <p:extLst>
      <p:ext uri="{BB962C8B-B14F-4D97-AF65-F5344CB8AC3E}">
        <p14:creationId xmlns:p14="http://schemas.microsoft.com/office/powerpoint/2010/main" val="3835891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B249B-F880-E83A-E418-EF1575C3442A}"/>
              </a:ext>
            </a:extLst>
          </p:cNvPr>
          <p:cNvSpPr>
            <a:spLocks noGrp="1"/>
          </p:cNvSpPr>
          <p:nvPr>
            <p:ph type="title"/>
          </p:nvPr>
        </p:nvSpPr>
        <p:spPr>
          <a:xfrm>
            <a:off x="1713054" y="288444"/>
            <a:ext cx="9779983" cy="718553"/>
          </a:xfrm>
        </p:spPr>
        <p:txBody>
          <a:bodyPr>
            <a:noAutofit/>
          </a:bodyPr>
          <a:lstStyle/>
          <a:p>
            <a:r>
              <a:rPr lang="en-US" b="1" dirty="0">
                <a:latin typeface="Times New Roman" panose="02020603050405020304" pitchFamily="18" charset="0"/>
                <a:cs typeface="Times New Roman" panose="02020603050405020304" pitchFamily="18" charset="0"/>
              </a:rPr>
              <a:t>Final business insights and recommendations </a:t>
            </a: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The library data shows clear differences in book demand across branches, with some branches issuing more books than others.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 Certain authors and titles are consistently popular, highlighting the need for better inventory planning.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 small group of borrowers accounts for most of the book loans, while others remain inactive.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Book copies are unevenly distributed, causing limited availability in some branches.</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6686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1D226-3DE0-A917-8566-F2401D7E7F5F}"/>
              </a:ext>
            </a:extLst>
          </p:cNvPr>
          <p:cNvSpPr>
            <a:spLocks noGrp="1"/>
          </p:cNvSpPr>
          <p:nvPr>
            <p:ph type="title"/>
          </p:nvPr>
        </p:nvSpPr>
        <p:spPr>
          <a:xfrm>
            <a:off x="1782502" y="624110"/>
            <a:ext cx="8657863" cy="764852"/>
          </a:xfrm>
        </p:spPr>
        <p:txBody>
          <a:bodyPr>
            <a:normAutofit fontScale="90000"/>
          </a:bodyPr>
          <a:lstStyle/>
          <a:p>
            <a:pPr algn="just"/>
            <a:r>
              <a:rPr lang="en-US" b="1" dirty="0">
                <a:latin typeface="Times New Roman" panose="02020603050405020304" pitchFamily="18" charset="0"/>
                <a:cs typeface="Times New Roman" panose="02020603050405020304" pitchFamily="18" charset="0"/>
              </a:rPr>
              <a:t>CONCLUSION</a:t>
            </a:r>
            <a:r>
              <a:rPr lang="en-US" dirty="0"/>
              <a:t> </a:t>
            </a:r>
            <a:br>
              <a:rPr lang="en-US" dirty="0"/>
            </a:br>
            <a:br>
              <a:rPr lang="en-US" dirty="0"/>
            </a:br>
            <a:r>
              <a:rPr lang="en-US" sz="3100" dirty="0">
                <a:latin typeface="Times New Roman" panose="02020603050405020304" pitchFamily="18" charset="0"/>
                <a:cs typeface="Times New Roman" panose="02020603050405020304" pitchFamily="18" charset="0"/>
              </a:rPr>
              <a:t>This project helped in understanding how a library’s data can be effectively managed using SQL. By building the database and running queries on real datasets, we were able to observe trends in book usage, borrower activity, and branch-level performance. The analysis shows how organized data and structured queries can support better decision making in daily library operations. Overall, the project demonstrates the value of SQL in managing, analyzing, and improving library services.</a:t>
            </a:r>
            <a:endParaRPr lang="en-IN" sz="3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7663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85471-8CAE-A532-CFBE-62AB0369B0DF}"/>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04B11658-3024-6167-1728-1EFA049CAC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8464" y="530943"/>
            <a:ext cx="9653727" cy="5708324"/>
          </a:xfrm>
          <a:prstGeom prst="rect">
            <a:avLst/>
          </a:prstGeom>
        </p:spPr>
      </p:pic>
    </p:spTree>
    <p:extLst>
      <p:ext uri="{BB962C8B-B14F-4D97-AF65-F5344CB8AC3E}">
        <p14:creationId xmlns:p14="http://schemas.microsoft.com/office/powerpoint/2010/main" val="298305253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1665</TotalTime>
  <Words>691</Words>
  <Application>Microsoft Office PowerPoint</Application>
  <PresentationFormat>Widescreen</PresentationFormat>
  <Paragraphs>66</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Century Gothic</vt:lpstr>
      <vt:lpstr>Times New Roman</vt:lpstr>
      <vt:lpstr>Wingdings</vt:lpstr>
      <vt:lpstr>Wingdings 3</vt:lpstr>
      <vt:lpstr>Wisp</vt:lpstr>
      <vt:lpstr>PowerPoint Presentation</vt:lpstr>
      <vt:lpstr>Agenda</vt:lpstr>
      <vt:lpstr>What is SQL?</vt:lpstr>
      <vt:lpstr>Objective</vt:lpstr>
      <vt:lpstr>ER Diagram</vt:lpstr>
      <vt:lpstr>Tables</vt:lpstr>
      <vt:lpstr>Book authors</vt:lpstr>
      <vt:lpstr>Book copies</vt:lpstr>
      <vt:lpstr>Book loans</vt:lpstr>
      <vt:lpstr>1.How many copies of the book titled "The Lost Tribe" are owned by the library branch whose name is "Sharpstown“?  Query:                                                                Output:   </vt:lpstr>
      <vt:lpstr>2.How many copies of the book titled "The Lost Tribe" are owned by each library branch?</vt:lpstr>
      <vt:lpstr>3.Retrieve the names of all borrowers who do not have any books checked out.?  Query:                                                                                                                                        Output:</vt:lpstr>
      <vt:lpstr>4.For each book that is loaned out from the "Sharpstown" branch and whose Due Date is 2/3/18, retrieve the book title, the borrower's name, and the borrower's address.? Query:                                                         Output:           </vt:lpstr>
      <vt:lpstr>5.For each library branch, retrieve the branch name and the total number of books loaned out from that branch.?  Query:                                                          Output: </vt:lpstr>
      <vt:lpstr>6.Retrieve the names, addresses, and number of books checked out for all borrowers who have more than five books checked out.? Query:                                                     Output: </vt:lpstr>
      <vt:lpstr>7.For each book authored by "Stephen King", retrieve the title and the number of copies owned by the library branch whose name is "Central“? Query:                                                                Output:</vt:lpstr>
      <vt:lpstr>Final business insights and recommendations   ✓ The library data shows clear differences in book demand across branches, with some branches issuing more books than others.  ✓ Certain authors and titles are consistently popular, highlighting the need for better inventory planning.  ✓ A small group of borrowers accounts for most of the book loans, while others remain inactive.  ✓ Book copies are unevenly distributed, causing limited availability in some branches.</vt:lpstr>
      <vt:lpstr>CONCLUSION   This project helped in understanding how a library’s data can be effectively managed using SQL. By building the database and running queries on real datasets, we were able to observe trends in book usage, borrower activity, and branch-level performance. The analysis shows how organized data and structured queries can support better decision making in daily library operations. Overall, the project demonstrates the value of SQL in managing, analyzing, and improving library services.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shailaja gollapelly</dc:creator>
  <cp:lastModifiedBy>Pravalika Dadi</cp:lastModifiedBy>
  <cp:revision>5</cp:revision>
  <dcterms:created xsi:type="dcterms:W3CDTF">2025-09-09T12:37:14Z</dcterms:created>
  <dcterms:modified xsi:type="dcterms:W3CDTF">2025-12-03T05:54:30Z</dcterms:modified>
</cp:coreProperties>
</file>